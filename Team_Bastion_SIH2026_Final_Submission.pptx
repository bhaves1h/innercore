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ctr"/>
            <a:r>
              <a:rPr sz="2600" b="1">
                <a:solidFill>
                  <a:srgbClr val="0070C0"/>
                </a:solidFill>
                <a:latin typeface="Times New Roman"/>
              </a:rPr>
              <a:t>SOVEREIGN AI WORKBENCH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400" i="1">
                <a:solidFill>
                  <a:srgbClr val="5A5A5A"/>
                </a:solidFill>
                <a:latin typeface="Arial"/>
              </a:rPr>
              <a:t>On-Premise Agentic AI for Confidential Industrial Work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ctr"/>
            <a:r>
              <a:rPr sz="3800" b="1">
                <a:solidFill>
                  <a:srgbClr val="1F497D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640080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0070C0"/>
                </a:solidFill>
                <a:latin typeface="Arial"/>
              </a:rPr>
              <a:t>•  </a:t>
            </a:r>
            <a:r>
              <a:rPr sz="1400" b="1">
                <a:solidFill>
                  <a:srgbClr val="1F497D"/>
                </a:solidFill>
                <a:latin typeface="Arial"/>
              </a:rPr>
              <a:t>Problem Statement ID:</a:t>
            </a:r>
            <a:r>
              <a:rPr sz="1400" b="1">
                <a:solidFill>
                  <a:srgbClr val="0070C0"/>
                </a:solidFill>
                <a:latin typeface="Arial"/>
              </a:rPr>
              <a:t> 26117</a:t>
            </a:r>
            <a:endParaRPr lang="en-US" dirty="0"/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0070C0"/>
                </a:solidFill>
                <a:latin typeface="Arial"/>
              </a:rPr>
              <a:t>•  </a:t>
            </a:r>
            <a:r>
              <a:rPr sz="1400" b="1">
                <a:solidFill>
                  <a:srgbClr val="1F497D"/>
                </a:solidFill>
                <a:latin typeface="Arial"/>
              </a:rPr>
              <a:t>Problem Statement Title:</a:t>
            </a:r>
            <a:r>
              <a:rPr sz="1350" b="0">
                <a:solidFill>
                  <a:srgbClr val="282828"/>
                </a:solidFill>
                <a:latin typeface="Arial"/>
              </a:rPr>
              <a:t> Sovereign On-Premise Agentic AI Workbench using Open-Weight Multimodal LLMs for Confidential Industrial Work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0070C0"/>
                </a:solidFill>
                <a:latin typeface="Arial"/>
              </a:rPr>
              <a:t>•  </a:t>
            </a:r>
            <a:r>
              <a:rPr sz="1400" b="1">
                <a:solidFill>
                  <a:srgbClr val="1F497D"/>
                </a:solidFill>
                <a:latin typeface="Arial"/>
              </a:rPr>
              <a:t>Theme:</a:t>
            </a:r>
            <a:r>
              <a:rPr sz="1400" b="0">
                <a:solidFill>
                  <a:srgbClr val="282828"/>
                </a:solidFill>
                <a:latin typeface="Arial"/>
              </a:rPr>
              <a:t> Smart Automation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0070C0"/>
                </a:solidFill>
                <a:latin typeface="Arial"/>
              </a:rPr>
              <a:t>•  </a:t>
            </a:r>
            <a:r>
              <a:rPr sz="1400" b="1">
                <a:solidFill>
                  <a:srgbClr val="1F497D"/>
                </a:solidFill>
                <a:latin typeface="Arial"/>
              </a:rPr>
              <a:t>PS Category:</a:t>
            </a:r>
            <a:r>
              <a:rPr sz="1400" b="0">
                <a:solidFill>
                  <a:srgbClr val="282828"/>
                </a:solidFill>
                <a:latin typeface="Arial"/>
              </a:rPr>
              <a:t> Software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0070C0"/>
                </a:solidFill>
                <a:latin typeface="Arial"/>
              </a:rPr>
              <a:t>•  </a:t>
            </a:r>
            <a:r>
              <a:rPr sz="1400" b="1">
                <a:solidFill>
                  <a:srgbClr val="1F497D"/>
                </a:solidFill>
                <a:latin typeface="Arial"/>
              </a:rPr>
              <a:t>Team ID:</a:t>
            </a:r>
            <a:r>
              <a:rPr sz="1400" b="0">
                <a:solidFill>
                  <a:srgbClr val="282828"/>
                </a:solidFill>
                <a:latin typeface="Arial"/>
              </a:rPr>
              <a:t> [Registered Team ID]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400" b="1">
                <a:solidFill>
                  <a:srgbClr val="0070C0"/>
                </a:solidFill>
                <a:latin typeface="Arial"/>
              </a:rPr>
              <a:t>•  </a:t>
            </a:r>
            <a:r>
              <a:rPr sz="1400" b="1">
                <a:solidFill>
                  <a:srgbClr val="1F497D"/>
                </a:solidFill>
                <a:latin typeface="Arial"/>
              </a:rPr>
              <a:t>Team Name:</a:t>
            </a:r>
            <a:r>
              <a:rPr sz="1400" b="1">
                <a:solidFill>
                  <a:srgbClr val="0070C0"/>
                </a:solidFill>
                <a:latin typeface="Arial"/>
              </a:rPr>
              <a:t> TEAM BASTION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r>
              <a:rPr sz="3000" b="1">
                <a:solidFill>
                  <a:srgbClr val="1F497D"/>
                </a:solidFill>
                <a:latin typeface="Times New Roman"/>
              </a:rPr>
              <a:t>IDEA TITLE: SOVEREIGN AI WORKBENCH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97D"/>
                </a:solidFill>
                <a:latin typeface="Arial"/>
              </a:rPr>
              <a:t>TEAM
BASTION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u="sng">
                <a:solidFill>
                  <a:srgbClr val="0070C0"/>
                </a:solidFill>
                <a:latin typeface="Arial"/>
              </a:rPr>
              <a:t>❖ Proposed Solution (Describe your Idea/Solution/Prototype)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57200" y="1536192"/>
            <a:ext cx="2066543" cy="347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50" b="1">
                <a:solidFill>
                  <a:srgbClr val="1F497D"/>
                </a:solidFill>
                <a:latin typeface="Arial"/>
              </a:rPr>
              <a:t>100% LOCAL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752343" y="1536192"/>
            <a:ext cx="2066543" cy="347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50" b="1">
                <a:solidFill>
                  <a:srgbClr val="1F497D"/>
                </a:solidFill>
                <a:latin typeface="Arial"/>
              </a:rPr>
              <a:t>AIR-GAPPED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047486" y="1536192"/>
            <a:ext cx="2066543" cy="347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50" b="1">
                <a:solidFill>
                  <a:srgbClr val="1F497D"/>
                </a:solidFill>
                <a:latin typeface="Arial"/>
              </a:rPr>
              <a:t>MULTI-MODEL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7342629" y="1536192"/>
            <a:ext cx="2066543" cy="347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50" b="1">
                <a:solidFill>
                  <a:srgbClr val="1F497D"/>
                </a:solidFill>
                <a:latin typeface="Arial"/>
              </a:rPr>
              <a:t>AGENTIC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9637772" y="1536192"/>
            <a:ext cx="2066543" cy="347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050" b="1">
                <a:solidFill>
                  <a:srgbClr val="1F497D"/>
                </a:solidFill>
                <a:latin typeface="Arial"/>
              </a:rPr>
              <a:t>MULTIMODAL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57200" y="1993392"/>
            <a:ext cx="3593592" cy="4178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566928" y="2103120"/>
            <a:ext cx="3374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Arial"/>
              </a:rPr>
              <a:t>1. Proposed Solution Overview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566928" y="2496312"/>
            <a:ext cx="33741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0070C0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Sovereign AI Workbench: </a:t>
            </a:r>
            <a:r>
              <a:rPr sz="1000">
                <a:solidFill>
                  <a:srgbClr val="282828"/>
                </a:solidFill>
                <a:latin typeface="Arial"/>
              </a:rPr>
              <a:t>A self-hosted, on-premise AI platform operating strictly within the organization's boundary.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0070C0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Local Claude/Codex Workflow: </a:t>
            </a:r>
            <a:r>
              <a:rPr sz="1000">
                <a:solidFill>
                  <a:srgbClr val="282828"/>
                </a:solidFill>
                <a:latin typeface="Arial"/>
              </a:rPr>
              <a:t>Delivers advanced autonomous agent capabilities without sending data to public clouds.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0070C0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Open-Weight Multimodal LLMs: </a:t>
            </a:r>
            <a:r>
              <a:rPr sz="1000">
                <a:solidFill>
                  <a:srgbClr val="282828"/>
                </a:solidFill>
                <a:latin typeface="Arial"/>
              </a:rPr>
              <a:t>Integrates text, reasoning, code, and vision models running 100% locally on enterprise GPUs.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0070C0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Zero External Leakage: </a:t>
            </a:r>
            <a:r>
              <a:rPr sz="1000">
                <a:solidFill>
                  <a:srgbClr val="282828"/>
                </a:solidFill>
                <a:latin typeface="Arial"/>
              </a:rPr>
              <a:t>All prompts, documents, embeddings, and outputs remain strictly inside the corporate perimeter.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283964" y="1993392"/>
            <a:ext cx="3593592" cy="4178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4393692" y="2103120"/>
            <a:ext cx="3374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Arial"/>
              </a:rPr>
              <a:t>2. How It Solves the Problem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393692" y="2496312"/>
            <a:ext cx="33741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1F497D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Data Sovereignty Breach: </a:t>
            </a:r>
            <a:r>
              <a:rPr sz="1000">
                <a:solidFill>
                  <a:srgbClr val="282828"/>
                </a:solidFill>
                <a:latin typeface="Arial"/>
              </a:rPr>
              <a:t>Conventional cloud AI exposes sensitive P&amp;IDs, financials, and internal designs; Bastion ensures zero egress.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1F497D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Beyond Chatbot Fragmentation: </a:t>
            </a:r>
            <a:r>
              <a:rPr sz="1000">
                <a:solidFill>
                  <a:srgbClr val="282828"/>
                </a:solidFill>
                <a:latin typeface="Arial"/>
              </a:rPr>
              <a:t>Replaces shallow question-answering bots with multi-step autonomous planning and tool execution.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1F497D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Multimodal Gap Solved: </a:t>
            </a:r>
            <a:r>
              <a:rPr sz="1000">
                <a:solidFill>
                  <a:srgbClr val="282828"/>
                </a:solidFill>
                <a:latin typeface="Arial"/>
              </a:rPr>
              <a:t>Local OCR and vision models process scanned PDFs, drawings, photos, and handwritten notes on-premise.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1F497D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No Single-Model Lock-in: </a:t>
            </a:r>
            <a:r>
              <a:rPr sz="1000">
                <a:solidFill>
                  <a:srgbClr val="282828"/>
                </a:solidFill>
                <a:latin typeface="Arial"/>
              </a:rPr>
              <a:t>Routes tasks dynamically to the most suitable open model for coding, documents, reasoning, or vision.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8110728" y="1993392"/>
            <a:ext cx="3593592" cy="4178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8220456" y="2103120"/>
            <a:ext cx="3374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Arial"/>
              </a:rPr>
              <a:t>3. Innovation &amp; Key Uniqueness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8220456" y="2496312"/>
            <a:ext cx="3374136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0070C0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Security by Architecture: </a:t>
            </a:r>
            <a:r>
              <a:rPr sz="1000">
                <a:solidFill>
                  <a:srgbClr val="282828"/>
                </a:solidFill>
                <a:latin typeface="Arial"/>
              </a:rPr>
              <a:t>Security enforced by physical air-gapped network isolation and sandboxing, not verbal privacy promises.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0070C0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Task-Based Dynamic Router: </a:t>
            </a:r>
            <a:r>
              <a:rPr sz="1000">
                <a:solidFill>
                  <a:srgbClr val="282828"/>
                </a:solidFill>
                <a:latin typeface="Arial"/>
              </a:rPr>
              <a:t>Smart routing layer selects specialized open-weight models based on task intent and complexity.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0070C0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Real Deliverables: </a:t>
            </a:r>
            <a:r>
              <a:rPr sz="1000">
                <a:solidFill>
                  <a:srgbClr val="282828"/>
                </a:solidFill>
                <a:latin typeface="Arial"/>
              </a:rPr>
              <a:t>Carries tasks to completion: generates verified PPT, Word, Excel, code, and structured inspection reports.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050" b="1">
                <a:solidFill>
                  <a:srgbClr val="0070C0"/>
                </a:solidFill>
                <a:latin typeface="Arial"/>
              </a:rPr>
              <a:t>• </a:t>
            </a:r>
            <a:r>
              <a:rPr sz="1050" b="1">
                <a:solidFill>
                  <a:srgbClr val="1F497D"/>
                </a:solidFill>
                <a:latin typeface="Arial"/>
              </a:rPr>
              <a:t>Traceable Citations: </a:t>
            </a:r>
            <a:r>
              <a:rPr sz="1000">
                <a:solidFill>
                  <a:srgbClr val="282828"/>
                </a:solidFill>
                <a:latin typeface="Arial"/>
              </a:rPr>
              <a:t>Every deliverable cites grounded source documents with full auditability and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3000" b="1">
                <a:solidFill>
                  <a:srgbClr val="1F497D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97D"/>
                </a:solidFill>
                <a:latin typeface="Arial"/>
              </a:rPr>
              <a:t>TEAM
BASTION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u="sng">
                <a:solidFill>
                  <a:srgbClr val="0070C0"/>
                </a:solidFill>
                <a:latin typeface="Arial"/>
              </a:rPr>
              <a:t>❖ Methodology &amp; System Pipeline (Local-First Agentic Architecture)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36192"/>
            <a:ext cx="1993392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INPUT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PDF Documents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Technical Images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User Prompts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Spreadsheets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2505456" y="2244852"/>
            <a:ext cx="210312" cy="2743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2770632" y="1536192"/>
            <a:ext cx="1993392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70C0"/>
                </a:solidFill>
                <a:latin typeface="Arial"/>
              </a:rPr>
              <a:t>ORCHESTRATOR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Intent Recognition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Plan &amp; Decompose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Task Scheduling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Step Verification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4818888" y="2244852"/>
            <a:ext cx="210312" cy="2743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5084064" y="1536192"/>
            <a:ext cx="1993392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MODEL ROUTER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Reasoning LLM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Multimodal Vision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Coding Model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Fast/Light LLM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7132320" y="2244852"/>
            <a:ext cx="210312" cy="2743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7397496" y="1536192"/>
            <a:ext cx="1993392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70C0"/>
                </a:solidFill>
                <a:latin typeface="Arial"/>
              </a:rPr>
              <a:t>LOCAL AGENTS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Local RAG / Vector DB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Local OCR Pipeline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Sandboxed Code Exec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Files &amp; Excel Tools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9445752" y="2244852"/>
            <a:ext cx="210312" cy="27432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9710928" y="1536192"/>
            <a:ext cx="1993392" cy="1691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OUTPUT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Word (.docx)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Excel (.xlsx)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Slides (.pptx)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282828"/>
                </a:solidFill>
                <a:latin typeface="Arial"/>
              </a:rPr>
              <a:t> • Code &amp; Reports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57200" y="3364992"/>
            <a:ext cx="11247120" cy="96012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LOCAL SECURITY LAYER  —  SECURITY BY ARCHITECTURE, NOT BY PROMISE</a:t>
            </a:r>
          </a:p>
          <a:p>
            <a:pPr algn="ctr">
              <a:spcBef>
                <a:spcPts val="500"/>
              </a:spcBef>
            </a:pPr>
            <a:r>
              <a:rPr sz="1050" b="1">
                <a:solidFill>
                  <a:srgbClr val="0070C0"/>
                </a:solidFill>
                <a:latin typeface="Arial"/>
              </a:rPr>
              <a:t>• Network Isolation (Air-Gapped)     • Role-Based Access Control (RBAC)     • Tamper-Evident Audit Logs
• Isolated Docker Sandbox Execution     • Local Open-Weight Model Registry     • Zero Outbound Internet Calls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57200" y="4462272"/>
            <a:ext cx="546811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Deployment &amp; Hardware Architecture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Single Workstation to Enterprise Cluster: </a:t>
            </a:r>
            <a:r>
              <a:rPr sz="950">
                <a:solidFill>
                  <a:srgbClr val="282828"/>
                </a:solidFill>
                <a:latin typeface="Arial"/>
              </a:rPr>
              <a:t>Starts on a single workstation/server with a mid-range GPU and scales to enterprise GPU clusters.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Air-Gapped On-Premise Operation: </a:t>
            </a:r>
            <a:r>
              <a:rPr sz="950">
                <a:solidFill>
                  <a:srgbClr val="282828"/>
                </a:solidFill>
                <a:latin typeface="Arial"/>
              </a:rPr>
              <a:t>Runs entirely self-contained within local facilities; zero cloud connectivity required.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Hardware Resource Efficiency: </a:t>
            </a:r>
            <a:r>
              <a:rPr sz="950">
                <a:solidFill>
                  <a:srgbClr val="282828"/>
                </a:solidFill>
                <a:latin typeface="Arial"/>
              </a:rPr>
              <a:t>Leverages 4-bit/8-bit quantized open-weight models to optimize VRAM utilization on commodity GPUs.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236208" y="4462272"/>
            <a:ext cx="546811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Technologies &amp; Frameworks Used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Open-Weight Foundation LLMs: </a:t>
            </a:r>
            <a:r>
              <a:rPr sz="950">
                <a:solidFill>
                  <a:srgbClr val="282828"/>
                </a:solidFill>
                <a:latin typeface="Arial"/>
              </a:rPr>
              <a:t>Meta Llama 3, Mistral, and Qwen vision-language models deployed via local inference runtime.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Local RAG &amp; Vector Engine: </a:t>
            </a:r>
            <a:r>
              <a:rPr sz="950">
                <a:solidFill>
                  <a:srgbClr val="282828"/>
                </a:solidFill>
                <a:latin typeface="Arial"/>
              </a:rPr>
              <a:t>High-performance local vector database (Chroma/FAISS) with offline sentence embedding models.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Agent Orchestration &amp; Tool Sandbox: </a:t>
            </a:r>
            <a:r>
              <a:rPr sz="950">
                <a:solidFill>
                  <a:srgbClr val="282828"/>
                </a:solidFill>
                <a:latin typeface="Arial"/>
              </a:rPr>
              <a:t>Autonomous Python agent execution engine coupled with isolated Docker sandboxes for safe code/file I/O.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3000" b="1">
                <a:solidFill>
                  <a:srgbClr val="1F497D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97D"/>
                </a:solidFill>
                <a:latin typeface="Arial"/>
              </a:rPr>
              <a:t>TEAM
BASTION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u="sng">
                <a:solidFill>
                  <a:srgbClr val="0070C0"/>
                </a:solidFill>
                <a:latin typeface="Arial"/>
              </a:rPr>
              <a:t>❖ Feasibility Analysis, Potential Challenges &amp; Mitigation Strategies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54480"/>
            <a:ext cx="3593592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1664208"/>
            <a:ext cx="3374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Arial"/>
              </a:rPr>
              <a:t>1. Analysis of Feasibility</a:t>
            </a:r>
          </a:p>
          <a:p>
            <a:r>
              <a:rPr sz="950" i="1">
                <a:solidFill>
                  <a:srgbClr val="5A5A5A"/>
                </a:solidFill>
                <a:latin typeface="Arial"/>
              </a:rPr>
              <a:t>Technical &amp; Operational Viability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66928" y="2194560"/>
            <a:ext cx="337413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Low Initial Barrier: </a:t>
            </a:r>
            <a:r>
              <a:rPr sz="950">
                <a:solidFill>
                  <a:srgbClr val="282828"/>
                </a:solidFill>
                <a:latin typeface="Arial"/>
              </a:rPr>
              <a:t>Runs on commodity workstation hardware with a single mid-range enterprise GPU using quantized open-weight models (7B/13B).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Horizontal Scalability: </a:t>
            </a:r>
            <a:r>
              <a:rPr sz="950">
                <a:solidFill>
                  <a:srgbClr val="282828"/>
                </a:solidFill>
                <a:latin typeface="Arial"/>
              </a:rPr>
              <a:t>Seamlessly expands from a single desktop node to multi-GPU enterprise on-premise clusters as workload grows.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Zero Recurring API Fees: </a:t>
            </a:r>
            <a:r>
              <a:rPr sz="950">
                <a:solidFill>
                  <a:srgbClr val="282828"/>
                </a:solidFill>
                <a:latin typeface="Arial"/>
              </a:rPr>
              <a:t>Air-gapped deployment operates with no per-token costs, eliminating ongoing cloud billing and rate limits.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Open Model Independence: </a:t>
            </a:r>
            <a:r>
              <a:rPr sz="950">
                <a:solidFill>
                  <a:srgbClr val="282828"/>
                </a:solidFill>
                <a:latin typeface="Arial"/>
              </a:rPr>
              <a:t>Open-weight model registry prevents proprietary vendor lock-in, enabling rapid drop-in upgrades.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Safe Local Tooling: </a:t>
            </a:r>
            <a:r>
              <a:rPr sz="950">
                <a:solidFill>
                  <a:srgbClr val="282828"/>
                </a:solidFill>
                <a:latin typeface="Arial"/>
              </a:rPr>
              <a:t>Local tools execute in strictly partitioned sandboxes, providing safe automation of confidential tasks.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83964" y="1554480"/>
            <a:ext cx="3593592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393692" y="1664208"/>
            <a:ext cx="3374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  <a:latin typeface="Arial"/>
              </a:rPr>
              <a:t>2. Challenges &amp; Risks</a:t>
            </a:r>
          </a:p>
          <a:p>
            <a:r>
              <a:rPr sz="950" i="1">
                <a:solidFill>
                  <a:srgbClr val="5A5A5A"/>
                </a:solidFill>
                <a:latin typeface="Arial"/>
              </a:rPr>
              <a:t>Identified Technical Constraints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393692" y="2194560"/>
            <a:ext cx="337413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1F497D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GPU Memory (VRAM) Limits: </a:t>
            </a:r>
            <a:r>
              <a:rPr sz="950">
                <a:solidFill>
                  <a:srgbClr val="282828"/>
                </a:solidFill>
                <a:latin typeface="Arial"/>
              </a:rPr>
              <a:t>Running concurrent multimodal LLMs, vision encoders, and vector search locally demands significant GPU VRAM.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1F497D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Task Specialization Gaps: </a:t>
            </a:r>
            <a:r>
              <a:rPr sz="950">
                <a:solidFill>
                  <a:srgbClr val="282828"/>
                </a:solidFill>
                <a:latin typeface="Arial"/>
              </a:rPr>
              <a:t>A single generic model cannot excel simultaneously at deep reasoning, coding, document parsing, and vision.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1F497D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Code Execution Safety: </a:t>
            </a:r>
            <a:r>
              <a:rPr sz="950">
                <a:solidFill>
                  <a:srgbClr val="282828"/>
                </a:solidFill>
                <a:latin typeface="Arial"/>
              </a:rPr>
              <a:t>Autonomous agents executing generated scripts on local infrastructure could introduce system instability if unbounded.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1F497D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Air-Gapped Maintenance: </a:t>
            </a:r>
            <a:r>
              <a:rPr sz="950">
                <a:solidFill>
                  <a:srgbClr val="282828"/>
                </a:solidFill>
                <a:latin typeface="Arial"/>
              </a:rPr>
              <a:t>Operating with zero internet access complicates model updates, dependencies, and external patch management.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1F497D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Grounding &amp; Hallucinations: </a:t>
            </a:r>
            <a:r>
              <a:rPr sz="950">
                <a:solidFill>
                  <a:srgbClr val="282828"/>
                </a:solidFill>
                <a:latin typeface="Arial"/>
              </a:rPr>
              <a:t>Industrial workflows require 100% factual fidelity; ungrounded generation can lead to costly engineering errors.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10728" y="1554480"/>
            <a:ext cx="3593592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8220456" y="1664208"/>
            <a:ext cx="3374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0C0"/>
                </a:solidFill>
                <a:latin typeface="Arial"/>
              </a:rPr>
              <a:t>3. Mitigation Strategies</a:t>
            </a:r>
          </a:p>
          <a:p>
            <a:r>
              <a:rPr sz="950" i="1">
                <a:solidFill>
                  <a:srgbClr val="5A5A5A"/>
                </a:solidFill>
                <a:latin typeface="Arial"/>
              </a:rPr>
              <a:t>Architectural Countermeasures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220456" y="2194560"/>
            <a:ext cx="337413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Quantization &amp; Dynamic Routing: </a:t>
            </a:r>
            <a:r>
              <a:rPr sz="950">
                <a:solidFill>
                  <a:srgbClr val="282828"/>
                </a:solidFill>
                <a:latin typeface="Arial"/>
              </a:rPr>
              <a:t>Employ 4-bit/8-bit GGUF quantization and model routing; lightweight models handle simple tasks to preserve VRAM.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Multi-Model Orchestration: </a:t>
            </a:r>
            <a:r>
              <a:rPr sz="950">
                <a:solidFill>
                  <a:srgbClr val="282828"/>
                </a:solidFill>
                <a:latin typeface="Arial"/>
              </a:rPr>
              <a:t>Decompose tasks and route dynamically to dedicated open models specialized in reasoning, coding, or OCR/vision.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Isolated Docker Sandbox: </a:t>
            </a:r>
            <a:r>
              <a:rPr sz="950">
                <a:solidFill>
                  <a:srgbClr val="282828"/>
                </a:solidFill>
                <a:latin typeface="Arial"/>
              </a:rPr>
              <a:t>All agent-generated code runs inside isolated, non-root ephemeral containers with restricted host I/O.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Local Model Registry: </a:t>
            </a:r>
            <a:r>
              <a:rPr sz="950">
                <a:solidFill>
                  <a:srgbClr val="282828"/>
                </a:solidFill>
                <a:latin typeface="Arial"/>
              </a:rPr>
              <a:t>Pre-packaged offline container images and local model repositories allow auditable on-premise update cycles.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• </a:t>
            </a:r>
            <a:r>
              <a:rPr sz="1000" b="1">
                <a:solidFill>
                  <a:srgbClr val="1F497D"/>
                </a:solidFill>
                <a:latin typeface="Arial"/>
              </a:rPr>
              <a:t>Grounded RAG &amp; Verification: </a:t>
            </a:r>
            <a:r>
              <a:rPr sz="950">
                <a:solidFill>
                  <a:srgbClr val="282828"/>
                </a:solidFill>
                <a:latin typeface="Arial"/>
              </a:rPr>
              <a:t>Strict vector retrieval with source document citations and automated output validation before deliverable export.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3000" b="1">
                <a:solidFill>
                  <a:srgbClr val="1F497D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97D"/>
                </a:solidFill>
                <a:latin typeface="Arial"/>
              </a:rPr>
              <a:t>TEAM
BASTION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u="sng">
                <a:solidFill>
                  <a:srgbClr val="0070C0"/>
                </a:solidFill>
                <a:latin typeface="Arial"/>
              </a:rPr>
              <a:t>❖ Target Users, Core Benefits &amp; Emerging Market Opportunity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36192"/>
            <a:ext cx="544068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Target Users &amp; Industrial Sectors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Refineries &amp; Energy (e.g. MRPL): </a:t>
            </a:r>
            <a:r>
              <a:rPr sz="950">
                <a:solidFill>
                  <a:srgbClr val="282828"/>
                </a:solidFill>
                <a:latin typeface="Arial"/>
              </a:rPr>
              <a:t>Analyze process P&amp;IDs, equipment inspection notes, SOP compliance, and plant telemetry securely on-premise.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Defence &amp; Government: </a:t>
            </a:r>
            <a:r>
              <a:rPr sz="950">
                <a:solidFill>
                  <a:srgbClr val="282828"/>
                </a:solidFill>
                <a:latin typeface="Arial"/>
              </a:rPr>
              <a:t>Handle classified intelligence, unreleased designs, and strategic internal correspondence with strict zero-egress.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Industrial Manufacturing: </a:t>
            </a:r>
            <a:r>
              <a:rPr sz="950">
                <a:solidFill>
                  <a:srgbClr val="282828"/>
                </a:solidFill>
                <a:latin typeface="Arial"/>
              </a:rPr>
              <a:t>Process technical drawings, supplier contracts, site photographs, and quality failure reports locally.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Critical Infrastructure: </a:t>
            </a:r>
            <a:r>
              <a:rPr sz="950">
                <a:solidFill>
                  <a:srgbClr val="282828"/>
                </a:solidFill>
                <a:latin typeface="Arial"/>
              </a:rPr>
              <a:t>Empower air-gapped utility and power grid control teams with AI assistance without cloud exposure.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4114800"/>
            <a:ext cx="5440680" cy="205740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Core Value Impact (Benefits of Solution)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100% Data Sovereignty: </a:t>
            </a:r>
            <a:r>
              <a:rPr sz="950">
                <a:solidFill>
                  <a:srgbClr val="282828"/>
                </a:solidFill>
                <a:latin typeface="Arial"/>
              </a:rPr>
              <a:t>Confidential IP, proprietary P&amp;IDs, and financials never cross corporate walls. Complies with national data security guidelines.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Accelerated Decision Cycles: </a:t>
            </a:r>
            <a:r>
              <a:rPr sz="950">
                <a:solidFill>
                  <a:srgbClr val="282828"/>
                </a:solidFill>
                <a:latin typeface="Arial"/>
              </a:rPr>
              <a:t>Compresses complex multi-document engineering reviews from days to minutes, boosting workforce productivity.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070C0"/>
                </a:solidFill>
                <a:latin typeface="Arial"/>
              </a:rPr>
              <a:t>• End-to-End Auditability: </a:t>
            </a:r>
            <a:r>
              <a:rPr sz="950">
                <a:solidFill>
                  <a:srgbClr val="282828"/>
                </a:solidFill>
                <a:latin typeface="Arial"/>
              </a:rPr>
              <a:t>Full transparency and traceable citations for all agent tool actions, ensuring verifiable compliance and accountability.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0" y="1536192"/>
            <a:ext cx="557784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From Chat to Completed Work (The Core Differentiator)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070C0"/>
                </a:solidFill>
                <a:latin typeface="Arial"/>
              </a:rPr>
              <a:t>01. Inspection → Approval Note
</a:t>
            </a:r>
            <a:r>
              <a:rPr sz="900">
                <a:solidFill>
                  <a:srgbClr val="282828"/>
                </a:solidFill>
                <a:latin typeface="Arial"/>
              </a:rPr>
              <a:t>   Read a scanned inspection report → extract technical findings → search internal SOPs → draft approval note → export verified Word doc.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070C0"/>
                </a:solidFill>
                <a:latin typeface="Arial"/>
              </a:rPr>
              <a:t>02. Engineering Drawing → Insights
</a:t>
            </a:r>
            <a:r>
              <a:rPr sz="900">
                <a:solidFill>
                  <a:srgbClr val="282828"/>
                </a:solidFill>
                <a:latin typeface="Arial"/>
              </a:rPr>
              <a:t>   Ingest complex P&amp;IDs / site photographs → identify components and anomalies → produce structured engineering summaries.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070C0"/>
                </a:solidFill>
                <a:latin typeface="Arial"/>
              </a:rPr>
              <a:t>03. Coding → Verified Output
</a:t>
            </a:r>
            <a:r>
              <a:rPr sz="900">
                <a:solidFill>
                  <a:srgbClr val="282828"/>
                </a:solidFill>
                <a:latin typeface="Arial"/>
              </a:rPr>
              <a:t>   Understand engineering requirements → synthesize code → execute within isolated sandbox → test → return working files and execution logs.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070C0"/>
                </a:solidFill>
                <a:latin typeface="Arial"/>
              </a:rPr>
              <a:t>04. Documents → Presentation
</a:t>
            </a:r>
            <a:r>
              <a:rPr sz="900">
                <a:solidFill>
                  <a:srgbClr val="282828"/>
                </a:solidFill>
                <a:latin typeface="Arial"/>
              </a:rPr>
              <a:t>   Search local knowledge base and correspondence → synthesize evidence → generate executive slides with traceable source citations.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0" y="4572000"/>
            <a:ext cx="557784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6236208" y="4608576"/>
            <a:ext cx="53583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497D"/>
                </a:solidFill>
                <a:latin typeface="Arial"/>
              </a:rPr>
              <a:t>Illustrative Market Scale (Demand for Sovereign AI)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236208" y="4919472"/>
            <a:ext cx="16916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50" b="1">
                <a:solidFill>
                  <a:srgbClr val="1F497D"/>
                </a:solidFill>
                <a:latin typeface="Arial"/>
              </a:rPr>
              <a:t>$8.6B</a:t>
            </a:r>
          </a:p>
          <a:p>
            <a:pPr algn="ctr"/>
            <a:r>
              <a:rPr sz="850">
                <a:solidFill>
                  <a:srgbClr val="5A5A5A"/>
                </a:solidFill>
                <a:latin typeface="Arial"/>
              </a:rPr>
              <a:t>India AI Market
(2024 Est.)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37576" y="4919472"/>
            <a:ext cx="16916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50" b="1">
                <a:solidFill>
                  <a:srgbClr val="1F497D"/>
                </a:solidFill>
                <a:latin typeface="Arial"/>
              </a:rPr>
              <a:t>₹1.7T</a:t>
            </a:r>
          </a:p>
          <a:p>
            <a:pPr algn="ctr"/>
            <a:r>
              <a:rPr sz="850">
                <a:solidFill>
                  <a:srgbClr val="5A5A5A"/>
                </a:solidFill>
                <a:latin typeface="Arial"/>
              </a:rPr>
              <a:t>Illustrative
Sovereign AI TAM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838944" y="4919472"/>
            <a:ext cx="16916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50" b="1">
                <a:solidFill>
                  <a:srgbClr val="1F497D"/>
                </a:solidFill>
                <a:latin typeface="Arial"/>
              </a:rPr>
              <a:t>₹500–750 Cr</a:t>
            </a:r>
          </a:p>
          <a:p>
            <a:pPr algn="ctr"/>
            <a:r>
              <a:rPr sz="850">
                <a:solidFill>
                  <a:srgbClr val="5A5A5A"/>
                </a:solidFill>
                <a:latin typeface="Arial"/>
              </a:rPr>
              <a:t>Potential 3–5 Year
Addressable SOM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126480" y="58521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i="1">
                <a:solidFill>
                  <a:srgbClr val="5A5A5A"/>
                </a:solidFill>
                <a:latin typeface="Arial"/>
              </a:rPr>
              <a:t>*Figures are illustrative pitch estimates reflecting emerging sovereign AI demand, not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/>
            <a:r>
              <a:rPr sz="3000" b="1">
                <a:solidFill>
                  <a:srgbClr val="1F497D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97D"/>
                </a:solidFill>
                <a:latin typeface="Arial"/>
              </a:rPr>
              <a:t>TEAM
BASTION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u="sng">
                <a:solidFill>
                  <a:srgbClr val="0070C0"/>
                </a:solidFill>
                <a:latin typeface="Arial"/>
              </a:rPr>
              <a:t>❖ Problem Statement Details, Foundational Technologies &amp; Validation Proof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54480"/>
            <a:ext cx="5468112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497D"/>
                </a:solidFill>
                <a:latin typeface="Arial"/>
              </a:rPr>
              <a:t>1. Official Problem Statement &amp; PSU Mandate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F497D"/>
                </a:solidFill>
                <a:latin typeface="Arial"/>
              </a:rPr>
              <a:t>• Hackathon Authority: </a:t>
            </a:r>
            <a:r>
              <a:rPr sz="900">
                <a:solidFill>
                  <a:srgbClr val="282828"/>
                </a:solidFill>
                <a:latin typeface="Arial"/>
              </a:rPr>
              <a:t>Smart India Hackathon (SIH) 2026, Ministry of Education Innovation Cell &amp; AICTE.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F497D"/>
                </a:solidFill>
                <a:latin typeface="Arial"/>
              </a:rPr>
              <a:t>• Problem Statement ID: </a:t>
            </a:r>
            <a:r>
              <a:rPr sz="900">
                <a:solidFill>
                  <a:srgbClr val="282828"/>
                </a:solidFill>
                <a:latin typeface="Arial"/>
              </a:rPr>
              <a:t>PS SIH 26117 | Category: Software | Complexity: Moderate | Theme: Smart Automation.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F497D"/>
                </a:solidFill>
                <a:latin typeface="Arial"/>
              </a:rPr>
              <a:t>• Official PS Title: </a:t>
            </a:r>
            <a:r>
              <a:rPr sz="900">
                <a:solidFill>
                  <a:srgbClr val="282828"/>
                </a:solidFill>
                <a:latin typeface="Arial"/>
              </a:rPr>
              <a:t>"Sovereign On-Premise Agentic AI Workbench using Open-Weight Multimodal LLMs for Confidential Industrial Work".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F497D"/>
                </a:solidFill>
                <a:latin typeface="Arial"/>
              </a:rPr>
              <a:t>• Target Sponsor &amp; Mandate: </a:t>
            </a:r>
            <a:r>
              <a:rPr sz="900">
                <a:solidFill>
                  <a:srgbClr val="282828"/>
                </a:solidFill>
                <a:latin typeface="Arial"/>
              </a:rPr>
              <a:t>Mangalore Refinery and Petrochemicals Limited (MRPL) / MoPNG. Strict No External Data Policy (NDPE).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36208" y="1554480"/>
            <a:ext cx="5468112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070C0"/>
                </a:solidFill>
                <a:latin typeface="Arial"/>
              </a:rPr>
              <a:t>2. Open-Weight Multimodal AI Foundations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70C0"/>
                </a:solidFill>
                <a:latin typeface="Arial"/>
              </a:rPr>
              <a:t>• Open-Weight LLMs: </a:t>
            </a:r>
            <a:r>
              <a:rPr sz="900">
                <a:solidFill>
                  <a:srgbClr val="282828"/>
                </a:solidFill>
                <a:latin typeface="Arial"/>
              </a:rPr>
              <a:t>Meta Llama 3 family, Mistral AI open models, and Qwen multimodal vision-language architectures.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70C0"/>
                </a:solidFill>
                <a:latin typeface="Arial"/>
              </a:rPr>
              <a:t>• Local Quantization Standards: </a:t>
            </a:r>
            <a:r>
              <a:rPr sz="900">
                <a:solidFill>
                  <a:srgbClr val="282828"/>
                </a:solidFill>
                <a:latin typeface="Arial"/>
              </a:rPr>
              <a:t>4-bit / 8-bit GGUF and AWQ integer quantization methods for efficient mid-range GPU execution.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70C0"/>
                </a:solidFill>
                <a:latin typeface="Arial"/>
              </a:rPr>
              <a:t>• Local OCR &amp; Vision Pipelines: </a:t>
            </a:r>
            <a:r>
              <a:rPr sz="900">
                <a:solidFill>
                  <a:srgbClr val="282828"/>
                </a:solidFill>
                <a:latin typeface="Arial"/>
              </a:rPr>
              <a:t>Local OCR engines and open vision models for digitizing technical schematics, P&amp;IDs, and scanned records.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70C0"/>
                </a:solidFill>
                <a:latin typeface="Arial"/>
              </a:rPr>
              <a:t>• Air-Gapped Embedding Models: </a:t>
            </a:r>
            <a:r>
              <a:rPr sz="900">
                <a:solidFill>
                  <a:srgbClr val="282828"/>
                </a:solidFill>
                <a:latin typeface="Arial"/>
              </a:rPr>
              <a:t>Self-hosted sentence transformers and local dense retrieval for offline semantic search.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3931920"/>
            <a:ext cx="5468112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0070C0"/>
                </a:solidFill>
                <a:latin typeface="Arial"/>
              </a:rPr>
              <a:t>3. Local Agentic Architecture &amp; Security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70C0"/>
                </a:solidFill>
                <a:latin typeface="Arial"/>
              </a:rPr>
              <a:t>• Agentic Orchestration: </a:t>
            </a:r>
            <a:r>
              <a:rPr sz="900">
                <a:solidFill>
                  <a:srgbClr val="282828"/>
                </a:solidFill>
                <a:latin typeface="Arial"/>
              </a:rPr>
              <a:t>Multi-step autonomous planning, task decomposition, and deterministic step verification pipelines.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70C0"/>
                </a:solidFill>
                <a:latin typeface="Arial"/>
              </a:rPr>
              <a:t>• Local Vector Database (RAG): </a:t>
            </a:r>
            <a:r>
              <a:rPr sz="900">
                <a:solidFill>
                  <a:srgbClr val="282828"/>
                </a:solidFill>
                <a:latin typeface="Arial"/>
              </a:rPr>
              <a:t>High-throughput embedded vector retrieval (Chroma / FAISS) operating with complete network isolation.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70C0"/>
                </a:solidFill>
                <a:latin typeface="Arial"/>
              </a:rPr>
              <a:t>• Containerized Sandbox Isolation: </a:t>
            </a:r>
            <a:r>
              <a:rPr sz="900">
                <a:solidFill>
                  <a:srgbClr val="282828"/>
                </a:solidFill>
                <a:latin typeface="Arial"/>
              </a:rPr>
              <a:t>Secure ephemeral Docker sandboxes for dynamic Python script execution and document generation.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070C0"/>
                </a:solidFill>
                <a:latin typeface="Arial"/>
              </a:rPr>
              <a:t>• Auditability &amp; Access Control: </a:t>
            </a:r>
            <a:r>
              <a:rPr sz="900">
                <a:solidFill>
                  <a:srgbClr val="282828"/>
                </a:solidFill>
                <a:latin typeface="Arial"/>
              </a:rPr>
              <a:t>Role-Based Access Control (RBAC) and immutable append-only local audit logs for regulatory compliance.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36208" y="3931920"/>
            <a:ext cx="5468112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F497D"/>
                </a:solidFill>
                <a:latin typeface="Arial"/>
              </a:rPr>
              <a:t>4. Empirical Verification &amp; Sovereign Proof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F497D"/>
                </a:solidFill>
                <a:latin typeface="Arial"/>
              </a:rPr>
              <a:t>• Zero Outbound Traffic Proof: </a:t>
            </a:r>
            <a:r>
              <a:rPr sz="900">
                <a:solidFill>
                  <a:srgbClr val="282828"/>
                </a:solidFill>
                <a:latin typeface="Arial"/>
              </a:rPr>
              <a:t>OS-level network telemetry and firewall monitors verifying 0 external API calls or telemetry leaks.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F497D"/>
                </a:solidFill>
                <a:latin typeface="Arial"/>
              </a:rPr>
              <a:t>• Local Grounding &amp; Traceability: </a:t>
            </a:r>
            <a:r>
              <a:rPr sz="900">
                <a:solidFill>
                  <a:srgbClr val="282828"/>
                </a:solidFill>
                <a:latin typeface="Arial"/>
              </a:rPr>
              <a:t>Document QA benchmarking demonstrating traceable source page/section citations for all generated answers.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F497D"/>
                </a:solidFill>
                <a:latin typeface="Arial"/>
              </a:rPr>
              <a:t>• Real Industrial Deliverables: </a:t>
            </a:r>
            <a:r>
              <a:rPr sz="900">
                <a:solidFill>
                  <a:srgbClr val="282828"/>
                </a:solidFill>
                <a:latin typeface="Arial"/>
              </a:rPr>
              <a:t>End-to-end task completion: Scanned Inspection → Word Approval Note; P&amp;ID Diagram → Technical Summary.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F497D"/>
                </a:solidFill>
                <a:latin typeface="Arial"/>
              </a:rPr>
              <a:t>• Demonstration MVP Readiness: </a:t>
            </a:r>
            <a:r>
              <a:rPr sz="900">
                <a:solidFill>
                  <a:srgbClr val="282828"/>
                </a:solidFill>
                <a:latin typeface="Arial"/>
              </a:rPr>
              <a:t>Functioning local prototype showcasing local RAG, model auto-routing, and verified file export.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